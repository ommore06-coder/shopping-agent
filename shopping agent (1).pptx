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presProps.xml" ContentType="application/vnd.openxmlformats-officedocument.presentationml.presProps+xml"/>
  <Override PartName="/ppt/media/image1.jpeg" ContentType="image/jpeg"/>
  <Override PartName="/ppt/media/image3.png" ContentType="image/png"/>
  <Override PartName="/ppt/media/image2.png" ContentType="image/png"/>
  <Override PartName="/ppt/media/image4.png" ContentType="image/png"/>
  <Override PartName="/ppt/media/image5.png" ContentType="image/png"/>
  <Override PartName="/ppt/media/image6.png" ContentType="image/png"/>
  <Override PartName="/ppt/media/image7.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838080" y="1825560"/>
            <a:ext cx="105148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85456672-6141-477E-865A-ADE677EF19A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 name="PlaceHolder 2"/>
          <p:cNvSpPr>
            <a:spLocks noGrp="1"/>
          </p:cNvSpPr>
          <p:nvPr>
            <p:ph type="subTitle"/>
          </p:nvPr>
        </p:nvSpPr>
        <p:spPr>
          <a:xfrm>
            <a:off x="838080" y="1825560"/>
            <a:ext cx="10514880" cy="4350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85E9FC8D-193B-469E-AD89-CEFFAA5DC5C1}"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96FBB222-200C-4201-804C-BEF631044748}"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9B461725-F55C-4544-AA19-68EB4AA9AB7F}"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0E434E21-0B8F-4684-AAB2-227B5DCAF81D}"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33"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 name="PlaceHolder 2"/>
          <p:cNvSpPr>
            <a:spLocks noGrp="1"/>
          </p:cNvSpPr>
          <p:nvPr>
            <p:ph/>
          </p:nvPr>
        </p:nvSpPr>
        <p:spPr>
          <a:xfrm>
            <a:off x="838080" y="1825560"/>
            <a:ext cx="51310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 name="PlaceHolder 3"/>
          <p:cNvSpPr>
            <a:spLocks noGrp="1"/>
          </p:cNvSpPr>
          <p:nvPr>
            <p:ph/>
          </p:nvPr>
        </p:nvSpPr>
        <p:spPr>
          <a:xfrm>
            <a:off x="6226200" y="1825560"/>
            <a:ext cx="51310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7650856F-976C-49FC-8F76-AB015B69D426}"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7168527D-5C2A-400B-8E57-5A8E2744EE34}"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43"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B732FF41-FDC9-4B0A-9B91-7A9056C63B0B}"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70223FD2-221B-47CF-898F-BB588CD12EA0}"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56A72B29-890A-4B0A-B7FD-393CE6670364}"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E94CB291-BEE3-4002-9A4B-70600A5E2584}"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E171F316-1384-4958-A81C-962F3D48A9AF}" type="slidenum">
              <a:t>&lt;#&gt;</a:t>
            </a:fld>
          </a:p>
        </p:txBody>
      </p:sp>
      <p:sp>
        <p:nvSpPr>
          <p:cNvPr id="4" name="PlaceHolder 3"/>
          <p:cNvSpPr>
            <a:spLocks noGrp="1"/>
          </p:cNvSpPr>
          <p:nvPr>
            <p:ph type="dt" idx="3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838080" y="1825560"/>
            <a:ext cx="1051488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E51A4E76-34F5-4A3D-9034-BD1DF05A7AFB}"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 name="PlaceHolder 5"/>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 name="PlaceHolder 2"/>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 name="PlaceHolder 3"/>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DAE8488A-446E-45D5-B721-A13E6C57FE3D}"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0" name="PlaceHolder 4"/>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4736B3FD-8713-42E6-A1A0-BC46938B960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6"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7"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9" name="PlaceHolder 1"/>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F8DB4630-1A04-439E-9B93-C6C61316B38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21" name="PlaceHolder 3"/>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 name="PlaceHolder 2"/>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A3A05173-6A8F-49D4-8641-1FA85B6E792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24" name="PlaceHolder 3"/>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5"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 name="PlaceHolder 2"/>
          <p:cNvSpPr>
            <a:spLocks noGrp="1"/>
          </p:cNvSpPr>
          <p:nvPr>
            <p:ph type="body"/>
          </p:nvPr>
        </p:nvSpPr>
        <p:spPr>
          <a:xfrm>
            <a:off x="83808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 name="PlaceHolder 3"/>
          <p:cNvSpPr>
            <a:spLocks noGrp="1"/>
          </p:cNvSpPr>
          <p:nvPr>
            <p:ph type="body"/>
          </p:nvPr>
        </p:nvSpPr>
        <p:spPr>
          <a:xfrm>
            <a:off x="622620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 name="PlaceHolder 4"/>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1" name="PlaceHolder 5"/>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73ED27F0-CFB5-49BC-A219-1BBBB4DFD38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32" name="PlaceHolder 6"/>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 name="PlaceHolder 1"/>
          <p:cNvSpPr>
            <a:spLocks noGrp="1"/>
          </p:cNvSpPr>
          <p:nvPr>
            <p:ph type="ftr" idx="1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 name="PlaceHolder 2"/>
          <p:cNvSpPr>
            <a:spLocks noGrp="1"/>
          </p:cNvSpPr>
          <p:nvPr>
            <p:ph type="sldNum" idx="20"/>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2D80A29E-9478-434F-ADB6-26D0D09FEAF4}"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38" name="PlaceHolder 3"/>
          <p:cNvSpPr>
            <a:spLocks noGrp="1"/>
          </p:cNvSpPr>
          <p:nvPr>
            <p:ph type="dt" idx="21"/>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0" name="PlaceHolder 2"/>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 name="PlaceHolder 3"/>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1370865F-9D59-4DB6-B8CB-C9A0CC79DB5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2" name="PlaceHolder 4"/>
          <p:cNvSpPr>
            <a:spLocks noGrp="1"/>
          </p:cNvSpPr>
          <p:nvPr>
            <p:ph type="dt" idx="24"/>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ftr" idx="2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6"/>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1A400FFA-6493-4D14-929E-2171776FC79F}"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6" name="PlaceHolder 3"/>
          <p:cNvSpPr>
            <a:spLocks noGrp="1"/>
          </p:cNvSpPr>
          <p:nvPr>
            <p:ph type="dt" idx="27"/>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7" name="PlaceHolder 1"/>
          <p:cNvSpPr>
            <a:spLocks noGrp="1"/>
          </p:cNvSpPr>
          <p:nvPr>
            <p:ph type="ftr" idx="2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29"/>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7FD12485-FA9A-4271-A5AB-62963642B2F5}"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0"/>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ftr" idx="3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1" name="PlaceHolder 2"/>
          <p:cNvSpPr>
            <a:spLocks noGrp="1"/>
          </p:cNvSpPr>
          <p:nvPr>
            <p:ph type="sldNum" idx="32"/>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94ACB289-46F2-4A20-8C93-BB9298F4FB2B}"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52" name="PlaceHolder 3"/>
          <p:cNvSpPr>
            <a:spLocks noGrp="1"/>
          </p:cNvSpPr>
          <p:nvPr>
            <p:ph type="dt" idx="3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3" name="PlaceHolder 1"/>
          <p:cNvSpPr>
            <a:spLocks noGrp="1"/>
          </p:cNvSpPr>
          <p:nvPr>
            <p:ph type="ftr" idx="3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4" name="PlaceHolder 2"/>
          <p:cNvSpPr>
            <a:spLocks noGrp="1"/>
          </p:cNvSpPr>
          <p:nvPr>
            <p:ph type="sldNum" idx="35"/>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8F9C558E-19CB-4352-9278-B55C30ECDDA3}"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55" name="PlaceHolder 3"/>
          <p:cNvSpPr>
            <a:spLocks noGrp="1"/>
          </p:cNvSpPr>
          <p:nvPr>
            <p:ph type="dt" idx="3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rmAutofit fontScale="98333"/>
          </a:bodyPr>
          <a:p>
            <a:pPr indent="0" algn="ctr">
              <a:lnSpc>
                <a:spcPct val="90000"/>
              </a:lnSpc>
              <a:buNone/>
              <a:tabLst>
                <a:tab algn="l" pos="0"/>
              </a:tabLst>
            </a:pPr>
            <a:r>
              <a:rPr b="1" lang="en-US" sz="6600" spc="-1" strike="noStrike">
                <a:solidFill>
                  <a:schemeClr val="dk1"/>
                </a:solidFill>
                <a:latin typeface="Calibri"/>
                <a:ea typeface="Calibri"/>
              </a:rPr>
              <a:t>IBM University Engagement Project Submission</a:t>
            </a:r>
            <a:br>
              <a:rPr sz="6600"/>
            </a:br>
            <a:endParaRPr b="0" lang="en-US" sz="6600" spc="-1" strike="noStrike">
              <a:solidFill>
                <a:srgbClr val="000000"/>
              </a:solidFill>
              <a:latin typeface="Arial"/>
            </a:endParaRPr>
          </a:p>
        </p:txBody>
      </p:sp>
      <p:sp>
        <p:nvSpPr>
          <p:cNvPr id="57" name="PlaceHolder 2"/>
          <p:cNvSpPr>
            <a:spLocks noGrp="1"/>
          </p:cNvSpPr>
          <p:nvPr>
            <p:ph/>
          </p:nvPr>
        </p:nvSpPr>
        <p:spPr>
          <a:xfrm>
            <a:off x="1014840" y="3903840"/>
            <a:ext cx="10514880" cy="1499400"/>
          </a:xfrm>
          <a:prstGeom prst="rect">
            <a:avLst/>
          </a:prstGeom>
          <a:noFill/>
          <a:ln w="0">
            <a:noFill/>
          </a:ln>
        </p:spPr>
        <p:txBody>
          <a:bodyPr lIns="91440" rIns="91440" tIns="45720" bIns="45720" anchor="t">
            <a:noAutofit/>
          </a:bodyPr>
          <a:p>
            <a:pPr marL="457200" indent="-228600" algn="ctr">
              <a:lnSpc>
                <a:spcPct val="90000"/>
              </a:lnSpc>
              <a:spcBef>
                <a:spcPts val="1001"/>
              </a:spcBef>
              <a:buNone/>
              <a:tabLst>
                <a:tab algn="l" pos="0"/>
              </a:tabLst>
            </a:pPr>
            <a:r>
              <a:rPr b="1" i="1" lang="en-US" sz="2400" spc="-1" strike="noStrike">
                <a:solidFill>
                  <a:schemeClr val="dk1"/>
                </a:solidFill>
                <a:latin typeface="Calibri"/>
                <a:ea typeface="Calibri"/>
              </a:rPr>
              <a:t>“</a:t>
            </a:r>
            <a:r>
              <a:rPr b="1" i="1" lang="en-US" sz="2400" spc="-1" strike="noStrike">
                <a:solidFill>
                  <a:schemeClr val="dk1"/>
                </a:solidFill>
                <a:latin typeface="Calibri"/>
                <a:ea typeface="Calibri"/>
              </a:rPr>
              <a:t>Exploring the Power of Agentic AI with IBM Granite and LangFlow”</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Google Shape;92;p2"/>
          <p:cNvSpPr/>
          <p:nvPr/>
        </p:nvSpPr>
        <p:spPr>
          <a:xfrm>
            <a:off x="690480" y="4425480"/>
            <a:ext cx="10794960" cy="198360"/>
          </a:xfrm>
          <a:prstGeom prst="rect">
            <a:avLst/>
          </a:prstGeom>
          <a:noFill/>
          <a:ln w="0">
            <a:noFill/>
          </a:ln>
        </p:spPr>
        <p:style>
          <a:lnRef idx="0"/>
          <a:fillRef idx="0"/>
          <a:effectRef idx="0"/>
          <a:fontRef idx="minor"/>
        </p:style>
        <p:txBody>
          <a:bodyPr lIns="0" rIns="0" tIns="0" bIns="0" anchor="t">
            <a:noAutofit/>
          </a:bodyPr>
          <a:p>
            <a:pPr>
              <a:lnSpc>
                <a:spcPct val="160000"/>
              </a:lnSpc>
              <a:tabLst>
                <a:tab algn="l" pos="0"/>
              </a:tabLst>
            </a:pPr>
            <a:endParaRPr b="0" lang="en-US" sz="1500" spc="-1" strike="noStrike">
              <a:solidFill>
                <a:schemeClr val="dk1"/>
              </a:solidFill>
              <a:latin typeface="Times New Roman"/>
              <a:ea typeface="Times New Roman"/>
            </a:endParaRPr>
          </a:p>
        </p:txBody>
      </p:sp>
      <p:sp>
        <p:nvSpPr>
          <p:cNvPr id="59" name="Google Shape;95;p2"/>
          <p:cNvSpPr/>
          <p:nvPr/>
        </p:nvSpPr>
        <p:spPr>
          <a:xfrm>
            <a:off x="1102320" y="1174680"/>
            <a:ext cx="7425720" cy="450720"/>
          </a:xfrm>
          <a:prstGeom prst="rect">
            <a:avLst/>
          </a:prstGeom>
          <a:noFill/>
          <a:ln w="0">
            <a:noFill/>
          </a:ln>
        </p:spPr>
        <p:style>
          <a:lnRef idx="0"/>
          <a:fillRef idx="0"/>
          <a:effectRef idx="0"/>
          <a:fontRef idx="minor"/>
        </p:style>
        <p:txBody>
          <a:bodyPr lIns="90000" rIns="90000" tIns="45000" bIns="45000" anchor="ctr">
            <a:noAutofit/>
          </a:bodyPr>
          <a:p>
            <a:pPr algn="ctr">
              <a:lnSpc>
                <a:spcPct val="90000"/>
              </a:lnSpc>
              <a:tabLst>
                <a:tab algn="l" pos="0"/>
              </a:tabLst>
            </a:pPr>
            <a:endParaRPr b="1" lang="en-US" sz="3200" spc="-1" strike="noStrike">
              <a:solidFill>
                <a:srgbClr val="002060"/>
              </a:solidFill>
              <a:latin typeface="Times New Roman"/>
              <a:ea typeface="Times New Roman"/>
            </a:endParaRPr>
          </a:p>
        </p:txBody>
      </p:sp>
      <p:graphicFrame>
        <p:nvGraphicFramePr>
          <p:cNvPr id="60" name="Google Shape;96;p2"/>
          <p:cNvGraphicFramePr/>
          <p:nvPr/>
        </p:nvGraphicFramePr>
        <p:xfrm>
          <a:off x="1299240" y="2600280"/>
          <a:ext cx="9394200" cy="2166840"/>
        </p:xfrm>
        <a:graphic>
          <a:graphicData uri="http://schemas.openxmlformats.org/drawingml/2006/table">
            <a:tbl>
              <a:tblPr/>
              <a:tblGrid>
                <a:gridCol w="2064600"/>
                <a:gridCol w="2443320"/>
                <a:gridCol w="2443320"/>
                <a:gridCol w="2443320"/>
              </a:tblGrid>
              <a:tr h="973080">
                <a:tc>
                  <a:txBody>
                    <a:bodyPr anchor="ctr">
                      <a:noAutofit/>
                    </a:bodyPr>
                    <a:p>
                      <a:pPr algn="ctr">
                        <a:lnSpc>
                          <a:spcPct val="100000"/>
                        </a:lnSpc>
                        <a:tabLst>
                          <a:tab algn="l" pos="0"/>
                        </a:tabLst>
                      </a:pPr>
                      <a:r>
                        <a:rPr b="0" lang="en-US" sz="1800" spc="-1" strike="noStrike">
                          <a:solidFill>
                            <a:srgbClr val="000000"/>
                          </a:solidFill>
                          <a:latin typeface="Arial"/>
                          <a:ea typeface="Arial"/>
                        </a:rPr>
                        <a:t>Student Name</a:t>
                      </a:r>
                      <a:endParaRPr b="0" lang="en-US" sz="18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Arial"/>
                        </a:rPr>
                        <a:t>Recent Passport Photo</a:t>
                      </a:r>
                      <a:endParaRPr b="0" lang="en-US" sz="18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Calibri"/>
                        </a:rPr>
                        <a:t>Email ID </a:t>
                      </a:r>
                      <a:endParaRPr b="0" lang="en-US" sz="18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Calibri"/>
                        </a:rPr>
                        <a:t>Mobile number</a:t>
                      </a:r>
                      <a:endParaRPr b="0" lang="en-US" sz="1800" spc="-1" strike="noStrike">
                        <a:solidFill>
                          <a:srgbClr val="000000"/>
                        </a:solidFill>
                        <a:latin typeface="Arial"/>
                      </a:endParaRPr>
                    </a:p>
                    <a:p>
                      <a:pPr algn="ctr">
                        <a:lnSpc>
                          <a:spcPct val="100000"/>
                        </a:lnSpc>
                        <a:tabLst>
                          <a:tab algn="l" pos="0"/>
                        </a:tabLst>
                      </a:pPr>
                      <a:r>
                        <a:rPr b="0" lang="en-US" sz="1800" spc="-1" strike="noStrike">
                          <a:solidFill>
                            <a:srgbClr val="000000"/>
                          </a:solidFill>
                          <a:latin typeface="Arial"/>
                          <a:ea typeface="Calibri"/>
                        </a:rPr>
                        <a:t>[WhatsApp] </a:t>
                      </a:r>
                      <a:endParaRPr b="0" lang="en-US" sz="18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193760">
                <a:tc>
                  <a:txBody>
                    <a:bodyPr anchor="t">
                      <a:noAutofit/>
                    </a:bodyPr>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Om Dattatray More</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b="0" lang="en-US" sz="1800" spc="-1" strike="noStrike">
                        <a:solidFill>
                          <a:srgbClr val="000000"/>
                        </a:solidFill>
                        <a:latin typeface="Arial"/>
                        <a:ea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200000"/>
                        </a:lnSpc>
                      </a:pPr>
                      <a:r>
                        <a:rPr b="0" lang="en-US" sz="1400" spc="-1" strike="noStrike">
                          <a:solidFill>
                            <a:srgbClr val="000000"/>
                          </a:solidFill>
                          <a:latin typeface="Arial"/>
                        </a:rPr>
                        <a:t>ommore1006@gmail.com</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9975273756</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sp>
        <p:nvSpPr>
          <p:cNvPr id="61" name="TextBox 3"/>
          <p:cNvSpPr/>
          <p:nvPr/>
        </p:nvSpPr>
        <p:spPr>
          <a:xfrm>
            <a:off x="1206000" y="1460880"/>
            <a:ext cx="1027944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a:ea typeface="Arial"/>
              </a:rPr>
              <a:t>Domain of  Project – </a:t>
            </a:r>
            <a:r>
              <a:rPr b="1" lang="en-US" sz="2400" spc="-1" strike="noStrike">
                <a:solidFill>
                  <a:srgbClr val="000000"/>
                </a:solidFill>
                <a:highlight>
                  <a:srgbClr val="ffff00"/>
                </a:highlight>
                <a:latin typeface="Arial"/>
                <a:ea typeface="Arial"/>
              </a:rPr>
              <a:t>[ Shopping / fashion Industry ]</a:t>
            </a:r>
            <a:endParaRPr b="0" lang="en-US" sz="2400" spc="-1" strike="noStrike">
              <a:solidFill>
                <a:srgbClr val="000000"/>
              </a:solidFill>
              <a:latin typeface="Arial"/>
            </a:endParaRPr>
          </a:p>
        </p:txBody>
      </p:sp>
      <p:sp>
        <p:nvSpPr>
          <p:cNvPr id="62" name="TextBox 6"/>
          <p:cNvSpPr/>
          <p:nvPr/>
        </p:nvSpPr>
        <p:spPr>
          <a:xfrm>
            <a:off x="1206000" y="551880"/>
            <a:ext cx="95803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a:ea typeface="Arial"/>
              </a:rPr>
              <a:t>Project Tile – </a:t>
            </a:r>
            <a:r>
              <a:rPr b="1" lang="en-US" sz="2400" spc="-1" strike="noStrike">
                <a:solidFill>
                  <a:srgbClr val="000000"/>
                </a:solidFill>
                <a:highlight>
                  <a:srgbClr val="ffff00"/>
                </a:highlight>
                <a:latin typeface="Arial"/>
                <a:ea typeface="Arial"/>
              </a:rPr>
              <a:t>[</a:t>
            </a:r>
            <a:r>
              <a:rPr b="1" lang="en-US" sz="2400" spc="-1" strike="noStrike">
                <a:solidFill>
                  <a:srgbClr val="002060"/>
                </a:solidFill>
                <a:highlight>
                  <a:srgbClr val="ffff00"/>
                </a:highlight>
                <a:latin typeface="Times New Roman"/>
                <a:ea typeface="Times New Roman"/>
              </a:rPr>
              <a:t>Shopping Agent</a:t>
            </a:r>
            <a:r>
              <a:rPr b="1" lang="en-US" sz="2400" spc="-1" strike="noStrike">
                <a:solidFill>
                  <a:srgbClr val="000000"/>
                </a:solidFill>
                <a:highlight>
                  <a:srgbClr val="ffff00"/>
                </a:highlight>
                <a:latin typeface="Arial"/>
                <a:ea typeface="Arial"/>
              </a:rPr>
              <a:t>]</a:t>
            </a:r>
            <a:endParaRPr b="0" lang="en-US" sz="2400" spc="-1" strike="noStrike">
              <a:solidFill>
                <a:srgbClr val="000000"/>
              </a:solidFill>
              <a:latin typeface="Arial"/>
            </a:endParaRPr>
          </a:p>
        </p:txBody>
      </p:sp>
      <p:sp>
        <p:nvSpPr>
          <p:cNvPr id="63" name="TextBox 2"/>
          <p:cNvSpPr/>
          <p:nvPr/>
        </p:nvSpPr>
        <p:spPr>
          <a:xfrm>
            <a:off x="1211040" y="5210640"/>
            <a:ext cx="6455880" cy="16142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nSpc>
                <a:spcPct val="100000"/>
              </a:lnSpc>
            </a:pPr>
            <a:r>
              <a:rPr b="0" lang="en-US" sz="2000" spc="-1" strike="noStrike">
                <a:solidFill>
                  <a:srgbClr val="ff0000"/>
                </a:solidFill>
                <a:latin typeface="Arial"/>
                <a:ea typeface="Arial"/>
              </a:rPr>
              <a:t>Recommended font style and size:</a:t>
            </a:r>
            <a:br>
              <a:rPr sz="2000"/>
            </a:br>
            <a:br>
              <a:rPr sz="2000"/>
            </a:br>
            <a:r>
              <a:rPr b="0" lang="en-US" sz="2000" spc="-1" strike="noStrike">
                <a:solidFill>
                  <a:srgbClr val="ff0000"/>
                </a:solidFill>
                <a:latin typeface="Arial"/>
                <a:ea typeface="Arial"/>
              </a:rPr>
              <a:t>Font Style: Arial</a:t>
            </a:r>
            <a:br>
              <a:rPr sz="2000"/>
            </a:br>
            <a:r>
              <a:rPr b="0" lang="en-US" sz="2000" spc="-1" strike="noStrike">
                <a:solidFill>
                  <a:srgbClr val="ff0000"/>
                </a:solidFill>
                <a:latin typeface="Arial"/>
                <a:ea typeface="Arial"/>
              </a:rPr>
              <a:t>Font Size (Heading): 28</a:t>
            </a:r>
            <a:endParaRPr b="0" lang="en-US" sz="2000" spc="-1" strike="noStrike">
              <a:solidFill>
                <a:srgbClr val="000000"/>
              </a:solidFill>
              <a:latin typeface="Arial"/>
            </a:endParaRPr>
          </a:p>
          <a:p>
            <a:pPr>
              <a:lnSpc>
                <a:spcPct val="100000"/>
              </a:lnSpc>
            </a:pPr>
            <a:r>
              <a:rPr b="0" lang="en-US" sz="2000" spc="-1" strike="noStrike">
                <a:solidFill>
                  <a:srgbClr val="ff0000"/>
                </a:solidFill>
                <a:latin typeface="Arial"/>
                <a:ea typeface="Arial"/>
              </a:rPr>
              <a:t>Font Size (Content): 20</a:t>
            </a:r>
            <a:endParaRPr b="0" lang="en-US" sz="2000" spc="-1" strike="noStrike">
              <a:solidFill>
                <a:srgbClr val="000000"/>
              </a:solidFill>
              <a:latin typeface="Arial"/>
            </a:endParaRPr>
          </a:p>
        </p:txBody>
      </p:sp>
      <p:pic>
        <p:nvPicPr>
          <p:cNvPr id="64" name="" descr=""/>
          <p:cNvPicPr/>
          <p:nvPr/>
        </p:nvPicPr>
        <p:blipFill>
          <a:blip r:embed="rId1"/>
          <a:stretch/>
        </p:blipFill>
        <p:spPr>
          <a:xfrm>
            <a:off x="3886200" y="3623760"/>
            <a:ext cx="1143000" cy="11430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TextBox 1"/>
          <p:cNvSpPr/>
          <p:nvPr/>
        </p:nvSpPr>
        <p:spPr>
          <a:xfrm>
            <a:off x="576000" y="1234440"/>
            <a:ext cx="10606320" cy="4999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400" spc="-1" strike="noStrike">
                <a:solidFill>
                  <a:srgbClr val="000000"/>
                </a:solidFill>
                <a:latin typeface="Arial"/>
                <a:ea typeface="Arial"/>
              </a:rPr>
              <a:t>Problem Statement : Intelligent Shopping Agent</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The Challenge</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Shoppers today face an overload of product options, scattered reviews, and </a:t>
            </a:r>
            <a:r>
              <a:rPr b="1" lang="en-US" sz="1400" spc="-1" strike="noStrike">
                <a:solidFill>
                  <a:srgbClr val="000000"/>
                </a:solidFill>
                <a:latin typeface="Arial"/>
                <a:ea typeface="Arial"/>
              </a:rPr>
              <a:t>dynamic pricing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across e-commerce platforms. Finding the right product that balances price, quality, and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personal preferences is time-consuming and frustrating. </a:t>
            </a:r>
            <a:r>
              <a:rPr b="1" lang="en-US" sz="1400" spc="-1" strike="noStrike">
                <a:solidFill>
                  <a:srgbClr val="000000"/>
                </a:solidFill>
                <a:latin typeface="Arial"/>
                <a:ea typeface="Arial"/>
              </a:rPr>
              <a:t>Traditional recommendation systems</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often fail to capture real-time trends, personalized needs, or contextual factors like urgency,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budget, or sustainability. The challenge is not just to recommend products but to act as a</a:t>
            </a:r>
            <a:r>
              <a:rPr b="1" lang="en-US" sz="1400" spc="-1" strike="noStrike">
                <a:solidFill>
                  <a:srgbClr val="000000"/>
                </a:solidFill>
                <a:latin typeface="Arial"/>
                <a:ea typeface="Arial"/>
              </a:rPr>
              <a:t> smart </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    </a:t>
            </a:r>
            <a:r>
              <a:rPr b="1" lang="en-US" sz="1400" spc="-1" strike="noStrike">
                <a:solidFill>
                  <a:srgbClr val="000000"/>
                </a:solidFill>
                <a:latin typeface="Arial"/>
                <a:ea typeface="Arial"/>
              </a:rPr>
              <a:t>shopping companion</a:t>
            </a:r>
            <a:r>
              <a:rPr b="0" lang="en-US" sz="1400" spc="-1" strike="noStrike">
                <a:solidFill>
                  <a:srgbClr val="000000"/>
                </a:solidFill>
                <a:latin typeface="Arial"/>
                <a:ea typeface="Arial"/>
              </a:rPr>
              <a:t> that helps buyers make informed and confident decisions. </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The Objective</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Build an </a:t>
            </a:r>
            <a:r>
              <a:rPr b="1" lang="en-US" sz="1400" spc="-1" strike="noStrike">
                <a:solidFill>
                  <a:srgbClr val="000000"/>
                </a:solidFill>
                <a:latin typeface="Arial"/>
                <a:ea typeface="Arial"/>
              </a:rPr>
              <a:t>Agentic AI shopping assistant </a:t>
            </a:r>
            <a:r>
              <a:rPr b="0" lang="en-US" sz="1400" spc="-1" strike="noStrike">
                <a:solidFill>
                  <a:srgbClr val="000000"/>
                </a:solidFill>
                <a:latin typeface="Arial"/>
                <a:ea typeface="Arial"/>
              </a:rPr>
              <a:t>that provides intelligent, personalized, and real-time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support. The solution should :</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    </a:t>
            </a:r>
            <a:r>
              <a:rPr b="1" lang="en-US" sz="1400" spc="-1" strike="noStrike">
                <a:solidFill>
                  <a:srgbClr val="000000"/>
                </a:solidFill>
                <a:latin typeface="Arial"/>
                <a:ea typeface="Arial"/>
              </a:rPr>
              <a:t>1. Fuse Multisource Data</a:t>
            </a:r>
            <a:r>
              <a:rPr b="0" lang="en-US" sz="1400" spc="-1" strike="noStrike">
                <a:solidFill>
                  <a:srgbClr val="000000"/>
                </a:solidFill>
                <a:latin typeface="Arial"/>
                <a:ea typeface="Arial"/>
              </a:rPr>
              <a:t>: Aggregate product details, reviews, ratings, and price comparisons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across multiple e-commerce sites into unified insights. </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    </a:t>
            </a:r>
            <a:r>
              <a:rPr b="1" lang="en-US" sz="1400" spc="-1" strike="noStrike">
                <a:solidFill>
                  <a:srgbClr val="000000"/>
                </a:solidFill>
                <a:latin typeface="Arial"/>
                <a:ea typeface="Arial"/>
              </a:rPr>
              <a:t>2. Enable Multimodal Search</a:t>
            </a:r>
            <a:r>
              <a:rPr b="0" lang="en-US" sz="1400" spc="-1" strike="noStrike">
                <a:solidFill>
                  <a:srgbClr val="000000"/>
                </a:solidFill>
                <a:latin typeface="Arial"/>
                <a:ea typeface="Arial"/>
              </a:rPr>
              <a:t>: Allow users to input voice queries, images (e.g., a photo of a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product), or text descriptions to find best-matching products.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1" lang="en-US" sz="1400" spc="-1" strike="noStrike">
                <a:solidFill>
                  <a:srgbClr val="000000"/>
                </a:solidFill>
                <a:latin typeface="Arial"/>
                <a:ea typeface="Arial"/>
              </a:rPr>
              <a:t>3.</a:t>
            </a:r>
            <a:r>
              <a:rPr b="0" lang="en-US" sz="1400" spc="-1" strike="noStrike">
                <a:solidFill>
                  <a:srgbClr val="000000"/>
                </a:solidFill>
                <a:latin typeface="Arial"/>
                <a:ea typeface="Arial"/>
              </a:rPr>
              <a:t> </a:t>
            </a:r>
            <a:r>
              <a:rPr b="1" lang="en-US" sz="1400" spc="-1" strike="noStrike">
                <a:solidFill>
                  <a:srgbClr val="000000"/>
                </a:solidFill>
                <a:latin typeface="Arial"/>
                <a:ea typeface="Arial"/>
              </a:rPr>
              <a:t>Create a Predictive &amp; Agentic Layer</a:t>
            </a:r>
            <a:r>
              <a:rPr b="0" lang="en-US" sz="1400" spc="-1" strike="noStrike">
                <a:solidFill>
                  <a:srgbClr val="000000"/>
                </a:solidFill>
                <a:latin typeface="Arial"/>
                <a:ea typeface="Arial"/>
              </a:rPr>
              <a:t>: Suggest purchase timing (e.g., discounts, seasonal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offers), recommend alternatives, and alert users about price drops or fake reviews.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1" lang="en-US" sz="1400" spc="-1" strike="noStrike">
                <a:solidFill>
                  <a:srgbClr val="000000"/>
                </a:solidFill>
                <a:latin typeface="Arial"/>
                <a:ea typeface="Arial"/>
              </a:rPr>
              <a:t>4.</a:t>
            </a:r>
            <a:r>
              <a:rPr b="0" lang="en-US" sz="1400" spc="-1" strike="noStrike">
                <a:solidFill>
                  <a:srgbClr val="000000"/>
                </a:solidFill>
                <a:latin typeface="Arial"/>
                <a:ea typeface="Arial"/>
              </a:rPr>
              <a:t> </a:t>
            </a:r>
            <a:r>
              <a:rPr b="1" lang="en-US" sz="1400" spc="-1" strike="noStrike">
                <a:solidFill>
                  <a:srgbClr val="000000"/>
                </a:solidFill>
                <a:latin typeface="Arial"/>
                <a:ea typeface="Arial"/>
              </a:rPr>
              <a:t>Visualize Smart Shopping Pulse</a:t>
            </a:r>
            <a:r>
              <a:rPr b="0" lang="en-US" sz="1400" spc="-1" strike="noStrike">
                <a:solidFill>
                  <a:srgbClr val="000000"/>
                </a:solidFill>
                <a:latin typeface="Arial"/>
                <a:ea typeface="Arial"/>
              </a:rPr>
              <a:t>: Provide a dashboard summarizing comparisons,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sustainability scores, trending products, and personalized shopping lists. </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66" name="TextBox 2"/>
          <p:cNvSpPr/>
          <p:nvPr/>
        </p:nvSpPr>
        <p:spPr>
          <a:xfrm>
            <a:off x="576000" y="704160"/>
            <a:ext cx="721404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a:ea typeface="Arial"/>
              </a:rPr>
              <a:t>Problem Statement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TextBox 1"/>
          <p:cNvSpPr/>
          <p:nvPr/>
        </p:nvSpPr>
        <p:spPr>
          <a:xfrm>
            <a:off x="457200" y="591840"/>
            <a:ext cx="10606320" cy="6494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Proposed Solution: AI-Powered Intelligent Shopping Agent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The proposed solution is a multi-agent AI-powered Intelligent Shopping Agent built using IBM LangFlow, IBM watsonx.ai, and IBM Granite Models to provide personalized, real-time shopping assistance. The system addresses the challenges of product discovery, price comparison, fake reviews, and purchase decision-making through an intelligent, modular architecture.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At its core, the solution uses a Retrieval-Augmented Generation (RAG) pipeline to retrieve product details, prices, customer reviews, ratings, and seller information from trusted e-commerce platforms. The retrieved data is embedded and stored in a vector database, enabling the system to provide accurate, up-to-date, and personalized shopping recommendations using IBM Granite models.</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The system consists of five key agents: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1. Product Discovery Agent retrieves product details, specifications, availability, and ratings from multiple e-commerce platforms.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Price Comparison Agent compares prices across different online stores, analyzes historical price trends, and identifies the best         available deals.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2 . Review Analysis Agent summarizes customer reviews, detects fake or misleading reviews, and generates a trust score for each        product.</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3 . Recommendation Agent provides personalized product recommendations based on user preferences such as budget, brand             preference, usage, and previous shopping behavior.</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4 . Shopping Dashboard Agent visualizes price comparisons, trending products, sustainability scores, personalized shopping lists,         and price-drop alerts through an interactive dashboard.</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5 . The solution supports multimodal search, allowing users to search products using text, voice, or product images for a more               natural shopping experience.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LangFlow is used to orchestrate the workflows of multiple intelligent agents, while IBM watsonx.ai provides scalable model                deployment, embeddings, and AI governance. IBM Granite models perform reasoning, product comparison, review                            summarization, and personalized recommendation generation.</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Overall, the proposed solution delivers an end-to-end intelligent shopping assistant that simplifies online shopping through personalized insights, real-time price intelligence, trustworthy review analysis, and proactive buying recommendations.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68" name="TextBox 2"/>
          <p:cNvSpPr/>
          <p:nvPr/>
        </p:nvSpPr>
        <p:spPr>
          <a:xfrm>
            <a:off x="100800" y="228600"/>
            <a:ext cx="721404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a:ea typeface="Arial"/>
              </a:rPr>
              <a:t>Proposed Solution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TextBox 1"/>
          <p:cNvSpPr/>
          <p:nvPr/>
        </p:nvSpPr>
        <p:spPr>
          <a:xfrm>
            <a:off x="777240" y="484560"/>
            <a:ext cx="712260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a:ea typeface="Arial"/>
              </a:rPr>
              <a:t>Technology Used</a:t>
            </a:r>
            <a:endParaRPr b="0" lang="en-US" sz="2400" spc="-1" strike="noStrike">
              <a:solidFill>
                <a:srgbClr val="000000"/>
              </a:solidFill>
              <a:latin typeface="Arial"/>
            </a:endParaRPr>
          </a:p>
        </p:txBody>
      </p:sp>
      <p:sp>
        <p:nvSpPr>
          <p:cNvPr id="70" name="TextBox 2"/>
          <p:cNvSpPr/>
          <p:nvPr/>
        </p:nvSpPr>
        <p:spPr>
          <a:xfrm>
            <a:off x="777240" y="1207080"/>
            <a:ext cx="10514880" cy="518004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buClr>
                <a:srgbClr val="000000"/>
              </a:buClr>
              <a:buFont typeface="Arial"/>
              <a:buChar char="•"/>
            </a:pPr>
            <a:r>
              <a:rPr b="1" lang="en-US" sz="1800" spc="-1" strike="noStrike">
                <a:solidFill>
                  <a:srgbClr val="000000"/>
                </a:solidFill>
                <a:latin typeface="Arial"/>
                <a:ea typeface="Arial"/>
              </a:rPr>
              <a:t>Langflow platform </a:t>
            </a:r>
            <a:r>
              <a:rPr b="0" lang="en-US" sz="1800" spc="-1" strike="noStrike">
                <a:solidFill>
                  <a:srgbClr val="000000"/>
                </a:solidFill>
                <a:latin typeface="Arial"/>
                <a:ea typeface="Arial"/>
              </a:rPr>
              <a:t>-For designing and orchestrating multi-agent workflows visually.</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IBM Granite model </a:t>
            </a:r>
            <a:r>
              <a:rPr b="0" lang="en-US" sz="1800" spc="-1" strike="noStrike">
                <a:solidFill>
                  <a:srgbClr val="000000"/>
                </a:solidFill>
                <a:latin typeface="Arial"/>
                <a:ea typeface="Arial"/>
              </a:rPr>
              <a:t>-  for eg – ibm-granite-3-2-8b – For natural language understanding, reasoning, and personalization</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IBM Cloud </a:t>
            </a:r>
            <a:r>
              <a:rPr b="0" lang="en-US" sz="1800" spc="-1" strike="noStrike">
                <a:solidFill>
                  <a:srgbClr val="000000"/>
                </a:solidFill>
                <a:latin typeface="Arial"/>
                <a:ea typeface="Arial"/>
              </a:rPr>
              <a:t>– Provides secure, scalable, and reliable infrastructure for deploying the Intelligent Shopping Agent.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RAG– </a:t>
            </a:r>
            <a:r>
              <a:rPr b="0" lang="en-US" sz="1800" spc="-1" strike="noStrike">
                <a:solidFill>
                  <a:srgbClr val="000000"/>
                </a:solidFill>
                <a:latin typeface="Arial"/>
                <a:ea typeface="Arial"/>
              </a:rPr>
              <a:t>Retrieves real-time product information before generating AI responses, improving accuracy and reliability.</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IBM Watsonx.ai - </a:t>
            </a:r>
            <a:r>
              <a:rPr b="0" lang="en-US" sz="1800" spc="-1" strike="noStrike">
                <a:solidFill>
                  <a:srgbClr val="000000"/>
                </a:solidFill>
                <a:latin typeface="Arial"/>
                <a:ea typeface="Arial"/>
              </a:rPr>
              <a:t>For model deployment, embeddings, and AI governance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IN" sz="1800" spc="-1" strike="noStrike">
                <a:solidFill>
                  <a:srgbClr val="000000"/>
                </a:solidFill>
                <a:latin typeface="Arial"/>
                <a:ea typeface="Arial"/>
              </a:rPr>
              <a:t>Vector Database </a:t>
            </a:r>
            <a:r>
              <a:rPr b="0" lang="en-IN" sz="1800" spc="-1" strike="noStrike">
                <a:solidFill>
                  <a:srgbClr val="000000"/>
                </a:solidFill>
                <a:latin typeface="Arial"/>
                <a:ea typeface="Arial"/>
              </a:rPr>
              <a:t>(FAISS/Chroma) – For RAG-based nutritional data retrieval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Google Shape;135;p5"/>
          <p:cNvSpPr/>
          <p:nvPr/>
        </p:nvSpPr>
        <p:spPr>
          <a:xfrm>
            <a:off x="537480" y="323280"/>
            <a:ext cx="5908320" cy="447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400" spc="-1" strike="noStrike">
                <a:solidFill>
                  <a:srgbClr val="000000"/>
                </a:solidFill>
                <a:latin typeface="Arial"/>
                <a:ea typeface="Arial"/>
              </a:rPr>
              <a:t>Langflow</a:t>
            </a:r>
            <a:r>
              <a:rPr b="1" lang="en-US" sz="3500" spc="-1" strike="noStrike">
                <a:solidFill>
                  <a:srgbClr val="051d3a"/>
                </a:solidFill>
                <a:latin typeface="Times New Roman"/>
                <a:ea typeface="Times New Roman"/>
              </a:rPr>
              <a:t> </a:t>
            </a:r>
            <a:r>
              <a:rPr b="1" lang="en-US" sz="2400" spc="-1" strike="noStrike">
                <a:solidFill>
                  <a:srgbClr val="000000"/>
                </a:solidFill>
                <a:latin typeface="Arial"/>
                <a:ea typeface="Arial"/>
              </a:rPr>
              <a:t>component Used -</a:t>
            </a:r>
            <a:endParaRPr b="0" lang="en-US" sz="2400" spc="-1" strike="noStrike">
              <a:solidFill>
                <a:srgbClr val="000000"/>
              </a:solidFill>
              <a:latin typeface="Arial"/>
            </a:endParaRPr>
          </a:p>
        </p:txBody>
      </p:sp>
      <p:sp>
        <p:nvSpPr>
          <p:cNvPr id="72" name="Google Shape;148;p5"/>
          <p:cNvSpPr/>
          <p:nvPr/>
        </p:nvSpPr>
        <p:spPr>
          <a:xfrm>
            <a:off x="2264400" y="6784560"/>
            <a:ext cx="2140200" cy="22356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600" spc="-1" strike="noStrike">
              <a:solidFill>
                <a:srgbClr val="000000"/>
              </a:solidFill>
              <a:latin typeface="Times New Roman"/>
              <a:ea typeface="Times New Roman"/>
            </a:endParaRPr>
          </a:p>
        </p:txBody>
      </p:sp>
      <p:sp>
        <p:nvSpPr>
          <p:cNvPr id="73" name="Google Shape;149;p5"/>
          <p:cNvSpPr/>
          <p:nvPr/>
        </p:nvSpPr>
        <p:spPr>
          <a:xfrm>
            <a:off x="1782720" y="7100280"/>
            <a:ext cx="3103560" cy="73116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600" spc="-1" strike="noStrike">
              <a:solidFill>
                <a:srgbClr val="000000"/>
              </a:solidFill>
              <a:latin typeface="Times New Roman"/>
              <a:ea typeface="Times New Roman"/>
            </a:endParaRPr>
          </a:p>
        </p:txBody>
      </p:sp>
      <p:sp>
        <p:nvSpPr>
          <p:cNvPr id="74" name="Google Shape;150;p5"/>
          <p:cNvSpPr/>
          <p:nvPr/>
        </p:nvSpPr>
        <p:spPr>
          <a:xfrm>
            <a:off x="5732280" y="6784560"/>
            <a:ext cx="1793160" cy="22356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600" spc="-1" strike="noStrike">
              <a:solidFill>
                <a:srgbClr val="000000"/>
              </a:solidFill>
              <a:latin typeface="Times New Roman"/>
              <a:ea typeface="Times New Roman"/>
            </a:endParaRPr>
          </a:p>
        </p:txBody>
      </p:sp>
      <p:sp>
        <p:nvSpPr>
          <p:cNvPr id="75" name="Google Shape;151;p5"/>
          <p:cNvSpPr/>
          <p:nvPr/>
        </p:nvSpPr>
        <p:spPr>
          <a:xfrm>
            <a:off x="5077440" y="7100280"/>
            <a:ext cx="3103560" cy="73116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600" spc="-1" strike="noStrike">
              <a:solidFill>
                <a:srgbClr val="000000"/>
              </a:solidFill>
              <a:latin typeface="Times New Roman"/>
              <a:ea typeface="Times New Roman"/>
            </a:endParaRPr>
          </a:p>
        </p:txBody>
      </p:sp>
      <p:sp>
        <p:nvSpPr>
          <p:cNvPr id="76" name="Google Shape;152;p5"/>
          <p:cNvSpPr/>
          <p:nvPr/>
        </p:nvSpPr>
        <p:spPr>
          <a:xfrm>
            <a:off x="9027000" y="6784560"/>
            <a:ext cx="1793160" cy="22356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600" spc="-1" strike="noStrike">
              <a:solidFill>
                <a:srgbClr val="000000"/>
              </a:solidFill>
              <a:latin typeface="Times New Roman"/>
              <a:ea typeface="Times New Roman"/>
            </a:endParaRPr>
          </a:p>
        </p:txBody>
      </p:sp>
      <p:sp>
        <p:nvSpPr>
          <p:cNvPr id="77" name="Google Shape;153;p5"/>
          <p:cNvSpPr/>
          <p:nvPr/>
        </p:nvSpPr>
        <p:spPr>
          <a:xfrm>
            <a:off x="8372160" y="7100280"/>
            <a:ext cx="3103560" cy="73116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600" spc="-1" strike="noStrike">
              <a:solidFill>
                <a:srgbClr val="000000"/>
              </a:solidFill>
              <a:latin typeface="Times New Roman"/>
              <a:ea typeface="Times New Roman"/>
            </a:endParaRPr>
          </a:p>
        </p:txBody>
      </p:sp>
      <p:sp>
        <p:nvSpPr>
          <p:cNvPr id="78" name="TextBox 1"/>
          <p:cNvSpPr/>
          <p:nvPr/>
        </p:nvSpPr>
        <p:spPr>
          <a:xfrm>
            <a:off x="474840" y="863280"/>
            <a:ext cx="8823240" cy="6067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1) Chat Input – </a:t>
            </a:r>
            <a:r>
              <a:rPr b="0" lang="en-US" sz="1400" spc="-1" strike="noStrike">
                <a:solidFill>
                  <a:srgbClr val="000000"/>
                </a:solidFill>
                <a:latin typeface="Arial"/>
                <a:ea typeface="Arial"/>
              </a:rPr>
              <a:t>Allows users to search products through text, voice, or image input.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2) IBM watsonx AI Agent – </a:t>
            </a:r>
            <a:r>
              <a:rPr b="0" lang="en-US" sz="1400" spc="-1" strike="noStrike">
                <a:solidFill>
                  <a:srgbClr val="000000"/>
                </a:solidFill>
                <a:latin typeface="Arial"/>
                <a:ea typeface="Arial"/>
              </a:rPr>
              <a:t>Processes user requests using IBM Granite Models and coordinates multiple shopping agents.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3) IBM Granite Model</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Granite-4.0-8B-Instruct – Generates personalized recommendations, summarizes reviews, compares products, and answers shopping queries.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4) Chat Output – </a:t>
            </a:r>
            <a:r>
              <a:rPr b="0" lang="en-US" sz="1400" spc="-1" strike="noStrike">
                <a:solidFill>
                  <a:srgbClr val="000000"/>
                </a:solidFill>
                <a:latin typeface="Arial"/>
                <a:ea typeface="Arial"/>
              </a:rPr>
              <a:t>Displays AI-generated recommendations, price comparisons, review summaries, and purchase suggestions.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5) File Component – </a:t>
            </a:r>
            <a:r>
              <a:rPr b="0" lang="en-US" sz="1400" spc="-1" strike="noStrike">
                <a:solidFill>
                  <a:srgbClr val="000000"/>
                </a:solidFill>
                <a:latin typeface="Arial"/>
                <a:ea typeface="Arial"/>
              </a:rPr>
              <a:t>Stores user preferences, shopping history, wish lists, and product datasets.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6) API Component – </a:t>
            </a:r>
            <a:r>
              <a:rPr b="0" lang="en-US" sz="1400" spc="-1" strike="noStrike">
                <a:solidFill>
                  <a:srgbClr val="000000"/>
                </a:solidFill>
                <a:latin typeface="Arial"/>
                <a:ea typeface="Arial"/>
              </a:rPr>
              <a:t>Connects with multiple e-commerce platforms to retrieve product information, pricing, and availability.</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7) Vector Store Component – </a:t>
            </a:r>
            <a:r>
              <a:rPr b="0" lang="en-US" sz="1400" spc="-1" strike="noStrike">
                <a:solidFill>
                  <a:srgbClr val="000000"/>
                </a:solidFill>
                <a:latin typeface="Arial"/>
                <a:ea typeface="Arial"/>
              </a:rPr>
              <a:t>Stores embeddings for products, reviews, and specifications to enable RAG-based retrieval.</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Google Shape;135;p5"/>
          <p:cNvSpPr/>
          <p:nvPr/>
        </p:nvSpPr>
        <p:spPr>
          <a:xfrm>
            <a:off x="537480" y="323280"/>
            <a:ext cx="5908320" cy="447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0" name="PlaceHolder 1"/>
          <p:cNvSpPr>
            <a:spLocks noGrp="1"/>
          </p:cNvSpPr>
          <p:nvPr>
            <p:ph type="title"/>
          </p:nvPr>
        </p:nvSpPr>
        <p:spPr>
          <a:xfrm>
            <a:off x="228600" y="-410760"/>
            <a:ext cx="10514880" cy="1324800"/>
          </a:xfrm>
          <a:prstGeom prst="rect">
            <a:avLst/>
          </a:prstGeom>
          <a:noFill/>
          <a:ln w="0">
            <a:noFill/>
          </a:ln>
        </p:spPr>
        <p:txBody>
          <a:bodyPr lIns="0" rIns="0" tIns="0" bIns="0" anchor="ctr">
            <a:noAutofit/>
          </a:bodyPr>
          <a:p>
            <a:pPr indent="0">
              <a:lnSpc>
                <a:spcPct val="100000"/>
              </a:lnSpc>
              <a:buNone/>
              <a:tabLst>
                <a:tab algn="l" pos="0"/>
              </a:tabLst>
            </a:pPr>
            <a:r>
              <a:rPr b="1" lang="en-US" sz="2800" spc="-1" strike="noStrike">
                <a:solidFill>
                  <a:srgbClr val="000000"/>
                </a:solidFill>
                <a:latin typeface="Arial"/>
              </a:rPr>
              <a:t>Lang flow :</a:t>
            </a:r>
            <a:endParaRPr b="0" lang="en-US" sz="2800" spc="-1" strike="noStrike">
              <a:solidFill>
                <a:srgbClr val="000000"/>
              </a:solidFill>
              <a:latin typeface="Arial"/>
            </a:endParaRPr>
          </a:p>
        </p:txBody>
      </p:sp>
      <p:sp>
        <p:nvSpPr>
          <p:cNvPr id="81" name="PlaceHolder 2"/>
          <p:cNvSpPr>
            <a:spLocks noGrp="1"/>
          </p:cNvSpPr>
          <p:nvPr>
            <p:ph type="subTitle"/>
          </p:nvPr>
        </p:nvSpPr>
        <p:spPr>
          <a:xfrm>
            <a:off x="838080" y="1825560"/>
            <a:ext cx="10514880" cy="435060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pic>
        <p:nvPicPr>
          <p:cNvPr id="82" name="" descr=""/>
          <p:cNvPicPr/>
          <p:nvPr/>
        </p:nvPicPr>
        <p:blipFill>
          <a:blip r:embed="rId1"/>
          <a:stretch/>
        </p:blipFill>
        <p:spPr>
          <a:xfrm>
            <a:off x="20160" y="531720"/>
            <a:ext cx="12171600" cy="63259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Google Shape;135;p5"/>
          <p:cNvSpPr/>
          <p:nvPr/>
        </p:nvSpPr>
        <p:spPr>
          <a:xfrm>
            <a:off x="537480" y="323280"/>
            <a:ext cx="5908320" cy="447840"/>
          </a:xfrm>
          <a:prstGeom prst="rect">
            <a:avLst/>
          </a:prstGeom>
          <a:noFill/>
          <a:ln w="0">
            <a:noFill/>
          </a:ln>
        </p:spPr>
        <p:style>
          <a:lnRef idx="0"/>
          <a:fillRef idx="0"/>
          <a:effectRef idx="0"/>
          <a:fontRef idx="minor"/>
        </p:style>
        <p:txBody>
          <a:bodyPr lIns="0" rIns="0" tIns="0" bIns="0" anchor="t">
            <a:noAutofit/>
          </a:bodyPr>
          <a:p>
            <a:pPr>
              <a:lnSpc>
                <a:spcPct val="100000"/>
              </a:lnSpc>
            </a:pPr>
            <a:endParaRPr b="0" lang="en-US" sz="1400" spc="-1" strike="noStrike">
              <a:solidFill>
                <a:srgbClr val="000000"/>
              </a:solidFill>
              <a:latin typeface="Arial"/>
            </a:endParaRPr>
          </a:p>
        </p:txBody>
      </p:sp>
      <p:pic>
        <p:nvPicPr>
          <p:cNvPr id="84" name="" descr=""/>
          <p:cNvPicPr/>
          <p:nvPr/>
        </p:nvPicPr>
        <p:blipFill>
          <a:blip r:embed="rId1"/>
          <a:stretch/>
        </p:blipFill>
        <p:spPr>
          <a:xfrm rot="6000">
            <a:off x="-5040" y="404280"/>
            <a:ext cx="11886840" cy="64951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Google Shape;196;p9" descr=""/>
          <p:cNvPicPr/>
          <p:nvPr/>
        </p:nvPicPr>
        <p:blipFill>
          <a:blip r:embed="rId1"/>
          <a:stretch/>
        </p:blipFill>
        <p:spPr>
          <a:xfrm>
            <a:off x="8372160" y="1167480"/>
            <a:ext cx="3014640" cy="4522320"/>
          </a:xfrm>
          <a:prstGeom prst="rect">
            <a:avLst/>
          </a:prstGeom>
          <a:ln w="0">
            <a:noFill/>
          </a:ln>
        </p:spPr>
      </p:pic>
      <p:sp>
        <p:nvSpPr>
          <p:cNvPr id="86" name="TextBox 1"/>
          <p:cNvSpPr/>
          <p:nvPr/>
        </p:nvSpPr>
        <p:spPr>
          <a:xfrm>
            <a:off x="475560" y="283320"/>
            <a:ext cx="9317160" cy="577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3200" spc="-1" strike="noStrike">
                <a:solidFill>
                  <a:srgbClr val="000000"/>
                </a:solidFill>
                <a:latin typeface="Arial"/>
                <a:ea typeface="Arial"/>
              </a:rPr>
              <a:t>Role of Agentic AI in the solution </a:t>
            </a:r>
            <a:endParaRPr b="0" lang="en-US" sz="3200" spc="-1" strike="noStrike">
              <a:solidFill>
                <a:srgbClr val="000000"/>
              </a:solidFill>
              <a:latin typeface="Arial"/>
            </a:endParaRPr>
          </a:p>
        </p:txBody>
      </p:sp>
      <p:sp>
        <p:nvSpPr>
          <p:cNvPr id="87" name="TextBox 2"/>
          <p:cNvSpPr/>
          <p:nvPr/>
        </p:nvSpPr>
        <p:spPr>
          <a:xfrm>
            <a:off x="594720" y="1265040"/>
            <a:ext cx="7405920" cy="4999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400" spc="-1" strike="noStrike">
                <a:solidFill>
                  <a:srgbClr val="000000"/>
                </a:solidFill>
                <a:latin typeface="Arial"/>
                <a:ea typeface="Arial"/>
              </a:rPr>
              <a:t>Role of Agentic AI in Intelligent Shopping Agent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Agentic AI enables the Intelligent Shopping Agent to function as an autonomous shopping companion rather than a traditional recommendation system. Using IBM watsonx.ai and IBM Granite models, it coordinates multiple specialized agents to assist users throughout the shopping journey.</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Each agent performs a dedicated task—such as product discovery, price comparison, review analysis, recommendation generation, and dashboard visualization—while collaborating with other agents to provide accurate and context-aware shopping insights.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Agentic AI understands user preferences including budget, brand choices, urgency, shopping history, and sustainability preferences to generate personalized recommendations. It continuously monitors product prices, seasonal discounts, and availability to proactively notify users about the best time to purchase.</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Additionally, the agents communicate with one another, enabling better decision-making, intelligent product comparison, and more reliable recommendations.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Overall, Agentic AI transforms the system into a proactive, personalized, and goal-driven shopping assistant that helps users make informed, confident, and cost-effective purchasing decisions.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TextBox 1"/>
          <p:cNvSpPr/>
          <p:nvPr/>
        </p:nvSpPr>
        <p:spPr>
          <a:xfrm>
            <a:off x="228600" y="228600"/>
            <a:ext cx="712260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a:ea typeface="Arial"/>
              </a:rPr>
              <a:t>Novelty and Uniqueness</a:t>
            </a:r>
            <a:endParaRPr b="0" lang="en-US" sz="2400" spc="-1" strike="noStrike">
              <a:solidFill>
                <a:srgbClr val="000000"/>
              </a:solidFill>
              <a:latin typeface="Arial"/>
            </a:endParaRPr>
          </a:p>
        </p:txBody>
      </p:sp>
      <p:sp>
        <p:nvSpPr>
          <p:cNvPr id="89" name="TextBox 2"/>
          <p:cNvSpPr/>
          <p:nvPr/>
        </p:nvSpPr>
        <p:spPr>
          <a:xfrm>
            <a:off x="585720" y="732600"/>
            <a:ext cx="11301120" cy="639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1800" spc="-1" strike="noStrike">
                <a:solidFill>
                  <a:srgbClr val="000000"/>
                </a:solidFill>
                <a:latin typeface="Arial"/>
                <a:ea typeface="Arial"/>
              </a:rPr>
              <a:t>The proposed Intelligent Shopping Agent stands out by combining Agentic AI, Retrieval-Augmented Generation (RAG), multimodal search, and predictive analytics into a single intelligent shopping platform.</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Multi-Agent Intelligence</a:t>
            </a:r>
            <a:r>
              <a:rPr b="0" lang="en-IN" sz="1800" spc="-1" strike="noStrike">
                <a:solidFill>
                  <a:srgbClr val="000000"/>
                </a:solidFill>
                <a:latin typeface="Arial"/>
                <a:ea typeface="Arial"/>
              </a:rPr>
              <a:t> – Multiple specialized AI agents collaborate to provide accurate, personalized, and context-aware shopping assistance.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RAG-Based Accuracy</a:t>
            </a:r>
            <a:r>
              <a:rPr b="0" lang="en-IN" sz="1800" spc="-1" strike="noStrike">
                <a:solidFill>
                  <a:srgbClr val="000000"/>
                </a:solidFill>
                <a:latin typeface="Arial"/>
                <a:ea typeface="Arial"/>
              </a:rPr>
              <a:t> – Combines real-time product retrieval with AI-generated recommendations, reducing misinformation and improving trust.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Hyper-Personalization </a:t>
            </a:r>
            <a:r>
              <a:rPr b="0" lang="en-IN" sz="1800" spc="-1" strike="noStrike">
                <a:solidFill>
                  <a:srgbClr val="000000"/>
                </a:solidFill>
                <a:latin typeface="Arial"/>
                <a:ea typeface="Arial"/>
              </a:rPr>
              <a:t>– Recommends products based on budget, preferences, shopping history, and lifestyle.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Predictive Purchase Timing</a:t>
            </a:r>
            <a:r>
              <a:rPr b="0" lang="en-IN" sz="1800" spc="-1" strike="noStrike">
                <a:solidFill>
                  <a:srgbClr val="000000"/>
                </a:solidFill>
                <a:latin typeface="Arial"/>
                <a:ea typeface="Arial"/>
              </a:rPr>
              <a:t> – Analyzes historical price trends and seasonal sales to recommend the best time to buy.</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Fake Review Detection </a:t>
            </a:r>
            <a:r>
              <a:rPr b="0" lang="en-IN" sz="1800" spc="-1" strike="noStrike">
                <a:solidFill>
                  <a:srgbClr val="000000"/>
                </a:solidFill>
                <a:latin typeface="Arial"/>
                <a:ea typeface="Arial"/>
              </a:rPr>
              <a:t>– Uses AI to identify suspicious reviews and generate product trust scores.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Multi-Modal Search</a:t>
            </a:r>
            <a:r>
              <a:rPr b="0" lang="en-IN" sz="1800" spc="-1" strike="noStrike">
                <a:solidFill>
                  <a:srgbClr val="000000"/>
                </a:solidFill>
                <a:latin typeface="Arial"/>
                <a:ea typeface="Arial"/>
              </a:rPr>
              <a:t> – Supports text, voice, and image-based product searches for improved accessibility.</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Smart Shopping Dashboard</a:t>
            </a:r>
            <a:r>
              <a:rPr b="0" lang="en-IN" sz="1800" spc="-1" strike="noStrike">
                <a:solidFill>
                  <a:srgbClr val="000000"/>
                </a:solidFill>
                <a:latin typeface="Arial"/>
                <a:ea typeface="Arial"/>
              </a:rPr>
              <a:t> – Visualizes product comparisons, sustainability scores, trending products, price alerts, and personalized shopping lists.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Google Shape;278;p18"/>
          <p:cNvSpPr/>
          <p:nvPr/>
        </p:nvSpPr>
        <p:spPr>
          <a:xfrm>
            <a:off x="1218600" y="420840"/>
            <a:ext cx="6443640" cy="703440"/>
          </a:xfrm>
          <a:prstGeom prst="rect">
            <a:avLst/>
          </a:prstGeom>
          <a:noFill/>
          <a:ln w="0">
            <a:noFill/>
          </a:ln>
        </p:spPr>
        <p:style>
          <a:lnRef idx="0"/>
          <a:fillRef idx="0"/>
          <a:effectRef idx="0"/>
          <a:fontRef idx="minor"/>
        </p:style>
        <p:txBody>
          <a:bodyPr lIns="0" rIns="0" tIns="0" bIns="0" anchor="t">
            <a:noAutofit/>
          </a:bodyPr>
          <a:p>
            <a:pPr>
              <a:lnSpc>
                <a:spcPct val="157000"/>
              </a:lnSpc>
              <a:tabLst>
                <a:tab algn="l" pos="0"/>
              </a:tabLst>
            </a:pPr>
            <a:r>
              <a:rPr b="1" lang="en-US" sz="2400" spc="-1" strike="noStrike">
                <a:solidFill>
                  <a:srgbClr val="000000"/>
                </a:solidFill>
                <a:latin typeface="Arial"/>
                <a:ea typeface="Arial"/>
              </a:rPr>
              <a:t>Git Hub Link</a:t>
            </a:r>
            <a:endParaRPr b="0" lang="en-US" sz="2400" spc="-1" strike="noStrike">
              <a:solidFill>
                <a:srgbClr val="000000"/>
              </a:solidFill>
              <a:latin typeface="Arial"/>
            </a:endParaRPr>
          </a:p>
        </p:txBody>
      </p:sp>
      <p:sp>
        <p:nvSpPr>
          <p:cNvPr id="91" name="Google Shape;279;p18"/>
          <p:cNvSpPr/>
          <p:nvPr/>
        </p:nvSpPr>
        <p:spPr>
          <a:xfrm>
            <a:off x="1218600" y="1153800"/>
            <a:ext cx="9213840" cy="427644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Please create public github repository (Enable Add README  button while creating repository) with format – </a:t>
            </a:r>
            <a:endParaRPr b="0" lang="en-US" sz="1850" spc="-1" strike="noStrike">
              <a:solidFill>
                <a:srgbClr val="000000"/>
              </a:solidFill>
              <a:latin typeface="Arial"/>
            </a:endParaRPr>
          </a:p>
          <a:p>
            <a:pPr>
              <a:lnSpc>
                <a:spcPct val="162000"/>
              </a:lnSpc>
              <a:tabLst>
                <a:tab algn="l" pos="0"/>
              </a:tabLst>
            </a:pPr>
            <a:r>
              <a:rPr b="0" lang="en-US" sz="1850" spc="-1" strike="noStrike">
                <a:solidFill>
                  <a:srgbClr val="2b3541"/>
                </a:solidFill>
                <a:latin typeface="Times New Roman"/>
                <a:ea typeface="Times New Roman"/>
              </a:rPr>
              <a:t>Please test and Paste the working  Github URL –</a:t>
            </a:r>
            <a:endParaRPr b="0" lang="en-US" sz="1850" spc="-1" strike="noStrike">
              <a:solidFill>
                <a:srgbClr val="000000"/>
              </a:solidFill>
              <a:latin typeface="Arial"/>
            </a:endParaRPr>
          </a:p>
          <a:p>
            <a:pPr>
              <a:lnSpc>
                <a:spcPct val="162000"/>
              </a:lnSpc>
              <a:tabLst>
                <a:tab algn="l" pos="0"/>
              </a:tabLst>
            </a:pPr>
            <a:r>
              <a:rPr b="0" lang="en-US" sz="1850" spc="-1" strike="noStrike">
                <a:solidFill>
                  <a:srgbClr val="2b3541"/>
                </a:solidFill>
                <a:latin typeface="Times New Roman"/>
                <a:ea typeface="Times New Roman"/>
              </a:rPr>
              <a:t>https://github.com/ommore06-coder/Shopping-Agent</a:t>
            </a:r>
            <a:endParaRPr b="0" lang="en-US" sz="1850" spc="-1" strike="noStrike">
              <a:solidFill>
                <a:srgbClr val="000000"/>
              </a:solidFill>
              <a:latin typeface="Arial"/>
            </a:endParaRPr>
          </a:p>
        </p:txBody>
      </p:sp>
      <p:sp>
        <p:nvSpPr>
          <p:cNvPr id="92" name="Google Shape;280;p18"/>
          <p:cNvSpPr/>
          <p:nvPr/>
        </p:nvSpPr>
        <p:spPr>
          <a:xfrm>
            <a:off x="1218600" y="3360240"/>
            <a:ext cx="7467840" cy="76536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93" name="Google Shape;281;p18"/>
          <p:cNvSpPr/>
          <p:nvPr/>
        </p:nvSpPr>
        <p:spPr>
          <a:xfrm>
            <a:off x="1218600" y="4395600"/>
            <a:ext cx="7467840" cy="76536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94" name="Google Shape;282;p18"/>
          <p:cNvSpPr/>
          <p:nvPr/>
        </p:nvSpPr>
        <p:spPr>
          <a:xfrm>
            <a:off x="1218600" y="5430600"/>
            <a:ext cx="7467840" cy="3823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Google Shape;278;p18"/>
          <p:cNvSpPr/>
          <p:nvPr/>
        </p:nvSpPr>
        <p:spPr>
          <a:xfrm>
            <a:off x="228600" y="210600"/>
            <a:ext cx="6443640" cy="703440"/>
          </a:xfrm>
          <a:prstGeom prst="rect">
            <a:avLst/>
          </a:prstGeom>
          <a:noFill/>
          <a:ln w="0">
            <a:noFill/>
          </a:ln>
        </p:spPr>
        <p:style>
          <a:lnRef idx="0"/>
          <a:fillRef idx="0"/>
          <a:effectRef idx="0"/>
          <a:fontRef idx="minor"/>
        </p:style>
        <p:txBody>
          <a:bodyPr lIns="0" rIns="0" tIns="0" bIns="0" anchor="t">
            <a:noAutofit/>
          </a:bodyPr>
          <a:p>
            <a:pPr>
              <a:lnSpc>
                <a:spcPct val="157000"/>
              </a:lnSpc>
              <a:tabLst>
                <a:tab algn="l" pos="0"/>
              </a:tabLst>
            </a:pPr>
            <a:r>
              <a:rPr b="1" lang="en-US" sz="2400" spc="-1" strike="noStrike">
                <a:solidFill>
                  <a:srgbClr val="000000"/>
                </a:solidFill>
                <a:latin typeface="Arial"/>
                <a:ea typeface="Arial"/>
              </a:rPr>
              <a:t>Future Scope </a:t>
            </a:r>
            <a:endParaRPr b="0" lang="en-US" sz="2400" spc="-1" strike="noStrike">
              <a:solidFill>
                <a:srgbClr val="000000"/>
              </a:solidFill>
              <a:latin typeface="Arial"/>
            </a:endParaRPr>
          </a:p>
        </p:txBody>
      </p:sp>
      <p:sp>
        <p:nvSpPr>
          <p:cNvPr id="96" name="Google Shape;279;p18"/>
          <p:cNvSpPr/>
          <p:nvPr/>
        </p:nvSpPr>
        <p:spPr>
          <a:xfrm>
            <a:off x="1218600" y="1221840"/>
            <a:ext cx="9213840" cy="427644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endParaRPr b="0" lang="en-US" sz="1400" spc="-1" strike="noStrike">
              <a:solidFill>
                <a:srgbClr val="000000"/>
              </a:solidFill>
              <a:latin typeface="Arial"/>
            </a:endParaRPr>
          </a:p>
        </p:txBody>
      </p:sp>
      <p:sp>
        <p:nvSpPr>
          <p:cNvPr id="97" name="Google Shape;280;p18"/>
          <p:cNvSpPr/>
          <p:nvPr/>
        </p:nvSpPr>
        <p:spPr>
          <a:xfrm>
            <a:off x="1218600" y="3360240"/>
            <a:ext cx="7467840" cy="76536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98" name="Google Shape;281;p18"/>
          <p:cNvSpPr/>
          <p:nvPr/>
        </p:nvSpPr>
        <p:spPr>
          <a:xfrm>
            <a:off x="1218600" y="4395600"/>
            <a:ext cx="7467840" cy="76536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99" name="Google Shape;282;p18"/>
          <p:cNvSpPr/>
          <p:nvPr/>
        </p:nvSpPr>
        <p:spPr>
          <a:xfrm>
            <a:off x="1218600" y="5430600"/>
            <a:ext cx="7467840" cy="3823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100" name=""/>
          <p:cNvSpPr/>
          <p:nvPr/>
        </p:nvSpPr>
        <p:spPr>
          <a:xfrm>
            <a:off x="457200" y="1054440"/>
            <a:ext cx="11429640" cy="3673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rPr>
              <a:t>1. </a:t>
            </a:r>
            <a:r>
              <a:rPr b="1" lang="en-US" sz="1800" spc="-1" strike="noStrike">
                <a:solidFill>
                  <a:srgbClr val="000000"/>
                </a:solidFill>
                <a:latin typeface="Arial"/>
              </a:rPr>
              <a:t>Integration with Global E-Commerce Platforms</a:t>
            </a:r>
            <a:r>
              <a:rPr b="0" lang="en-US" sz="1800" spc="-1" strike="noStrike">
                <a:solidFill>
                  <a:srgbClr val="000000"/>
                </a:solidFill>
                <a:latin typeface="Arial"/>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Expand support for platforms such as Amazon, Flipkart, Myntra, Ajio, Walmart, and eBay to provide                    broader product comparisons and better shopping options.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2. </a:t>
            </a:r>
            <a:r>
              <a:rPr b="1" lang="en-US" sz="1800" spc="-1" strike="noStrike">
                <a:solidFill>
                  <a:srgbClr val="000000"/>
                </a:solidFill>
                <a:latin typeface="Arial"/>
              </a:rPr>
              <a:t>AI-Powered Voice Shopping &amp; Multilingual Support</a:t>
            </a:r>
            <a:r>
              <a:rPr b="0" lang="en-US" sz="1800" spc="-1" strike="noStrike">
                <a:solidFill>
                  <a:srgbClr val="000000"/>
                </a:solidFill>
                <a:latin typeface="Arial"/>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Enable voice-based shopping with multilingual capabilities, allowing users to search and purchase products       naturally in their preferred language.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3. </a:t>
            </a:r>
            <a:r>
              <a:rPr b="1" lang="en-US" sz="1800" spc="-1" strike="noStrike">
                <a:solidFill>
                  <a:srgbClr val="000000"/>
                </a:solidFill>
                <a:latin typeface="Arial"/>
              </a:rPr>
              <a:t>Augmented Reality (AR) Product Visualization</a:t>
            </a:r>
            <a:r>
              <a:rPr b="0" lang="en-US" sz="1800" spc="-1" strike="noStrike">
                <a:solidFill>
                  <a:srgbClr val="000000"/>
                </a:solidFill>
                <a:latin typeface="Arial"/>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Allow users to virtually try products such as clothing, eyewear, furniture, and home décor before purchasing.</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4. </a:t>
            </a:r>
            <a:r>
              <a:rPr b="1" lang="en-US" sz="1800" spc="-1" strike="noStrike">
                <a:solidFill>
                  <a:srgbClr val="000000"/>
                </a:solidFill>
                <a:latin typeface="Arial"/>
              </a:rPr>
              <a:t>Autonomous Shopping Agent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Enable the AI assistant to automatically compare products, apply coupons, negotiate deals, place orders,           and track deliveries on behalf of users.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TextBox 5"/>
          <p:cNvSpPr/>
          <p:nvPr/>
        </p:nvSpPr>
        <p:spPr>
          <a:xfrm>
            <a:off x="327960" y="207360"/>
            <a:ext cx="6095160" cy="66888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nSpc>
                <a:spcPct val="100000"/>
              </a:lnSpc>
            </a:pPr>
            <a:r>
              <a:rPr b="1" lang="en-US" sz="2400" spc="-1" strike="noStrike">
                <a:solidFill>
                  <a:srgbClr val="000000"/>
                </a:solidFill>
                <a:latin typeface="Arial"/>
                <a:ea typeface="Arial"/>
              </a:rPr>
              <a:t>Certificates Earned:</a:t>
            </a:r>
            <a:endParaRPr b="0" lang="en-US" sz="2400" spc="-1" strike="noStrike">
              <a:solidFill>
                <a:srgbClr val="000000"/>
              </a:solidFill>
              <a:latin typeface="Arial"/>
            </a:endParaRPr>
          </a:p>
          <a:p>
            <a:pPr algn="ctr">
              <a:lnSpc>
                <a:spcPct val="100000"/>
              </a:lnSpc>
            </a:pPr>
            <a:endParaRPr b="0" lang="en-US" sz="1400" spc="-1" strike="noStrike">
              <a:solidFill>
                <a:srgbClr val="000000"/>
              </a:solidFill>
              <a:latin typeface="Arial"/>
            </a:endParaRPr>
          </a:p>
        </p:txBody>
      </p:sp>
      <p:sp>
        <p:nvSpPr>
          <p:cNvPr id="102" name="TextBox 2"/>
          <p:cNvSpPr/>
          <p:nvPr/>
        </p:nvSpPr>
        <p:spPr>
          <a:xfrm>
            <a:off x="551880" y="690120"/>
            <a:ext cx="6389280" cy="51660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nSpc>
                <a:spcPct val="100000"/>
              </a:lnSpc>
            </a:pPr>
            <a:r>
              <a:rPr b="1" lang="en-US" sz="2800" spc="-1" strike="noStrike">
                <a:solidFill>
                  <a:srgbClr val="000000"/>
                </a:solidFill>
                <a:latin typeface="Arial"/>
                <a:ea typeface="Arial"/>
              </a:rPr>
              <a:t>Please  add your credly certificate </a:t>
            </a:r>
            <a:endParaRPr b="0" lang="en-US" sz="2800" spc="-1" strike="noStrike">
              <a:solidFill>
                <a:srgbClr val="000000"/>
              </a:solidFill>
              <a:latin typeface="Arial"/>
            </a:endParaRPr>
          </a:p>
        </p:txBody>
      </p:sp>
      <p:pic>
        <p:nvPicPr>
          <p:cNvPr id="103" name="" descr=""/>
          <p:cNvPicPr/>
          <p:nvPr/>
        </p:nvPicPr>
        <p:blipFill>
          <a:blip r:embed="rId1"/>
          <a:stretch/>
        </p:blipFill>
        <p:spPr>
          <a:xfrm>
            <a:off x="2514600" y="1348200"/>
            <a:ext cx="7086240" cy="528084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TextBox 4"/>
          <p:cNvSpPr/>
          <p:nvPr/>
        </p:nvSpPr>
        <p:spPr>
          <a:xfrm>
            <a:off x="176760" y="226440"/>
            <a:ext cx="6095160" cy="66888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nSpc>
                <a:spcPct val="100000"/>
              </a:lnSpc>
            </a:pPr>
            <a:r>
              <a:rPr b="1" lang="en-US" sz="2400" spc="-1" strike="noStrike">
                <a:solidFill>
                  <a:srgbClr val="000000"/>
                </a:solidFill>
                <a:latin typeface="Arial"/>
                <a:ea typeface="Arial"/>
              </a:rPr>
              <a:t>Certificates Earned:</a:t>
            </a:r>
            <a:r>
              <a:rPr b="0" lang="en-US" sz="2400" spc="-1" strike="noStrike">
                <a:solidFill>
                  <a:srgbClr val="000000"/>
                </a:solidFill>
                <a:latin typeface="Arial"/>
                <a:ea typeface="Arial"/>
              </a:rPr>
              <a:t>​</a:t>
            </a:r>
            <a:endParaRPr b="0" lang="en-US" sz="2400" spc="-1" strike="noStrike">
              <a:solidFill>
                <a:srgbClr val="000000"/>
              </a:solidFill>
              <a:latin typeface="Arial"/>
            </a:endParaRPr>
          </a:p>
          <a:p>
            <a:pPr algn="ctr">
              <a:lnSpc>
                <a:spcPct val="100000"/>
              </a:lnSpc>
            </a:pPr>
            <a:endParaRPr b="0" lang="en-US" sz="1400" spc="-1" strike="noStrike">
              <a:solidFill>
                <a:srgbClr val="000000"/>
              </a:solidFill>
              <a:latin typeface="Arial"/>
            </a:endParaRPr>
          </a:p>
        </p:txBody>
      </p:sp>
      <p:sp>
        <p:nvSpPr>
          <p:cNvPr id="105" name="TextBox 5"/>
          <p:cNvSpPr/>
          <p:nvPr/>
        </p:nvSpPr>
        <p:spPr>
          <a:xfrm>
            <a:off x="496800" y="800640"/>
            <a:ext cx="5437080" cy="3956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nSpc>
                <a:spcPct val="100000"/>
              </a:lnSpc>
            </a:pPr>
            <a:endParaRPr b="0" lang="en-US" sz="1400" spc="-1" strike="noStrike">
              <a:solidFill>
                <a:srgbClr val="000000"/>
              </a:solidFill>
              <a:latin typeface="Arial"/>
            </a:endParaRPr>
          </a:p>
        </p:txBody>
      </p:sp>
      <p:pic>
        <p:nvPicPr>
          <p:cNvPr id="106" name="" descr=""/>
          <p:cNvPicPr/>
          <p:nvPr/>
        </p:nvPicPr>
        <p:blipFill>
          <a:blip r:embed="rId1"/>
          <a:stretch/>
        </p:blipFill>
        <p:spPr>
          <a:xfrm>
            <a:off x="1371600" y="1095840"/>
            <a:ext cx="8596080" cy="53046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7" name="Google Shape;310;p20" descr=""/>
          <p:cNvPicPr/>
          <p:nvPr/>
        </p:nvPicPr>
        <p:blipFill>
          <a:blip r:embed="rId1"/>
          <a:stretch/>
        </p:blipFill>
        <p:spPr>
          <a:xfrm>
            <a:off x="0" y="2190240"/>
            <a:ext cx="12191400" cy="24768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404</TotalTime>
  <Application>Docx_Editor_PLUS/1.0.0.0$Windows_X86_64 LibreOffice_project/</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en-US</dc:language>
  <cp:lastModifiedBy/>
  <dcterms:modified xsi:type="dcterms:W3CDTF">2026-07-15T16:15:12Z</dcterms:modified>
  <cp:revision>16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Widescreen</vt:lpwstr>
  </property>
  <property fmtid="{D5CDD505-2E9C-101B-9397-08002B2CF9AE}" pid="4" name="Slides">
    <vt:i4>16</vt:i4>
  </property>
</Properties>
</file>